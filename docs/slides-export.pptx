
<file path=[Content_Types].xml><?xml version="1.0" encoding="utf-8"?>
<Types xmlns="http://schemas.openxmlformats.org/package/2006/content-types">
  <Default Extension="xml" ContentType="application/xml"/>
  <Default Extension="rels" ContentType="application/vnd.openxmlformats-package.relationships+xml"/>
  <Default Extension="jpg" ContentType="image/jpeg"/>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notesMaster" Target="notesMasters/notesMaster1.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 it run. 56 seconds. Every arc is one official moving between colonies, 1815 to 1966. Say nothing until the arcs reach Africa. If the network is down, play the downloaded mp4 instead; the still behind this slide is a frame from it.</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 27,526 people / 180,470 events / 131,343 placed. IOL 19,400 / 124,694 / 80,238. 36,431 arcs. 186 people in both services; Wodehouse.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Clifford, Alex, Coates, Klein, Watson, Historical Methods 2016. “Italy” in Texas. What changed is who writes the pipeline and how fast the loop runs.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Record of the Public Services of Officers. Cumulative. OCR’d with olmOCR; we begin after OCR.</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IOL run, overnight 25–26 June, 16 workers, reasoning off, temp 0. Reasoning on: 67% failures. COL: 34,743, about a day including setup.</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WikidataMCP vector search. Saved results in outputs/ground-test/ if the network fails.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George V from memory: Q269 is Tashkent; Opus caught it by reading the page. Gorges has two items. Harris b. 1858 vs item 1855.</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6.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Cleaning, Structuring and Grounding Historical Data</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One dataset, start to finish, with a coding agent</a:t>
            </a:r>
            <a:br/>
            <a:br/>
            <a:r>
              <a:rPr/>
              <a:t>Jim Clifford, University of Saskatchewan</a:t>
            </a:r>
          </a:p>
        </p:txBody>
      </p:sp>
      <p:sp>
        <p:nvSpPr>
          <p:cNvPr id="4" name="Date Placeholder 3"/>
          <p:cNvSpPr>
            <a:spLocks noGrp="1"/>
          </p:cNvSpPr>
          <p:nvPr>
            <p:ph idx="10" sz="half" type="dt"/>
          </p:nvPr>
        </p:nvSpPr>
        <p:spPr/>
        <p:txBody>
          <a:bodyPr/>
          <a:lstStyle/>
          <a:p>
            <a:pPr lvl="0" indent="0" marL="0">
              <a:buNone/>
            </a:pPr>
            <a:r>
              <a:rPr/>
              <a:t>2026-10-15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The atlas</a:t>
            </a:r>
          </a:p>
        </p:txBody>
      </p:sp>
      <p:pic>
        <p:nvPicPr>
          <p:cNvPr descr="combined-mobility-frame.jpg" id="0" name="Picture 1"/>
          <p:cNvPicPr>
            <a:picLocks noGrp="1" noChangeAspect="1"/>
          </p:cNvPicPr>
          <p:nvPr/>
        </p:nvPicPr>
        <p:blipFill>
          <a:blip r:embed="rId3"/>
          <a:stretch>
            <a:fillRect/>
          </a:stretch>
        </p:blipFill>
        <p:spPr bwMode="auto">
          <a:xfrm>
            <a:off x="3568700" y="685800"/>
            <a:ext cx="5105400" cy="34036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that was</a:t>
            </a:r>
          </a:p>
          <a:p>
            <a:pPr lvl="0" indent="0" marL="0">
              <a:buNone/>
            </a:pPr>
            <a:r>
              <a:rPr b="1"/>
              <a:t>46,926</a:t>
            </a:r>
            <a:r>
              <a:rPr/>
              <a:t> officials</a:t>
            </a:r>
            <a:br/>
            <a:r>
              <a:rPr b="1"/>
              <a:t>305,164</a:t>
            </a:r>
            <a:r>
              <a:rPr/>
              <a:t> career events</a:t>
            </a:r>
            <a:br/>
            <a:r>
              <a:rPr b="1"/>
              <a:t>211,581</a:t>
            </a:r>
            <a:r>
              <a:rPr/>
              <a:t> of them on the map</a:t>
            </a:r>
          </a:p>
          <a:p>
            <a:pPr lvl="0" indent="0" marL="0">
              <a:buNone/>
            </a:pPr>
            <a:r>
              <a:rPr/>
              <a:t>Two printed reference books. One historian, a coding agent, a few months.</a:t>
            </a:r>
          </a:p>
          <a:p>
            <a:pPr lvl="0" indent="0" marL="0">
              <a:spcBef>
                <a:spcPts val="3000"/>
              </a:spcBef>
              <a:buNone/>
            </a:pPr>
            <a:r>
              <a:rPr b="1"/>
              <a:t>Ten years ago</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Trading Consequences, 2013</a:t>
            </a:r>
          </a:p>
          <a:p>
            <a:pPr lvl="0" indent="0" marL="0">
              <a:buNone/>
            </a:pPr>
            <a:r>
              <a:rPr/>
              <a:t>Five institutions. A grant. A pipeline built by computational linguists. F-scores of 0.6.</a:t>
            </a:r>
          </a:p>
        </p:txBody>
      </p:sp>
      <p:sp>
        <p:nvSpPr>
          <p:cNvPr id="4" name="Content Placeholder 3"/>
          <p:cNvSpPr>
            <a:spLocks noGrp="1"/>
          </p:cNvSpPr>
          <p:nvPr>
            <p:ph idx="2" sz="half"/>
          </p:nvPr>
        </p:nvSpPr>
        <p:spPr/>
        <p:txBody>
          <a:bodyPr/>
          <a:lstStyle/>
          <a:p>
            <a:pPr lvl="0" indent="0" marL="0">
              <a:buNone/>
            </a:pPr>
            <a:r>
              <a:rPr b="1"/>
              <a:t>Imperial Careers, 2026</a:t>
            </a:r>
          </a:p>
          <a:p>
            <a:pPr lvl="0" indent="0" marL="0">
              <a:buNone/>
            </a:pPr>
            <a:r>
              <a:rPr/>
              <a:t>One historian. A coding agent. A cheap model reading overnight. The same three problems.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Three questions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pPr lvl="0" indent="0" marL="0">
                        <a:buNone/>
                      </a:pPr>
                      <a:r>
                        <a:rPr/>
                        <a:t>The question</a:t>
                      </a:r>
                    </a:p>
                  </a:txBody>
                  <a:tcPr/>
                </a:tc>
                <a:tc>
                  <a:txBody>
                    <a:bodyPr/>
                    <a:lstStyle/>
                    <a:p>
                      <a:pPr lvl="0" indent="0" marL="0">
                        <a:buNone/>
                      </a:pPr>
                      <a:r>
                        <a:rPr/>
                        <a:t>You decide</a:t>
                      </a:r>
                    </a:p>
                  </a:txBody>
                  <a:tcPr/>
                </a:tc>
              </a:tr>
              <a:tr h="0">
                <a:tc>
                  <a:txBody>
                    <a:bodyPr/>
                    <a:lstStyle/>
                    <a:p>
                      <a:pPr lvl="0" indent="0" marL="0">
                        <a:buNone/>
                      </a:pPr>
                      <a:r>
                        <a:rPr b="1"/>
                        <a:t>Structure</a:t>
                      </a:r>
                    </a:p>
                  </a:txBody>
                </a:tc>
                <a:tc>
                  <a:txBody>
                    <a:bodyPr/>
                    <a:lstStyle/>
                    <a:p>
                      <a:pPr lvl="0" indent="0" marL="0">
                        <a:buNone/>
                      </a:pPr>
                      <a:r>
                        <a:rPr/>
                        <a:t>What is a record here?</a:t>
                      </a:r>
                    </a:p>
                  </a:txBody>
                </a:tc>
                <a:tc>
                  <a:txBody>
                    <a:bodyPr/>
                    <a:lstStyle/>
                    <a:p>
                      <a:pPr lvl="0" indent="0" marL="0">
                        <a:buNone/>
                      </a:pPr>
                      <a:r>
                        <a:rPr/>
                        <a:t>What counts as an event</a:t>
                      </a:r>
                    </a:p>
                  </a:txBody>
                </a:tc>
              </a:tr>
              <a:tr h="0">
                <a:tc>
                  <a:txBody>
                    <a:bodyPr/>
                    <a:lstStyle/>
                    <a:p>
                      <a:pPr lvl="0" indent="0" marL="0">
                        <a:buNone/>
                      </a:pPr>
                      <a:r>
                        <a:rPr b="1"/>
                        <a:t>Clean</a:t>
                      </a:r>
                    </a:p>
                  </a:txBody>
                </a:tc>
                <a:tc>
                  <a:txBody>
                    <a:bodyPr/>
                    <a:lstStyle/>
                    <a:p>
                      <a:pPr lvl="0" indent="0" marL="0">
                        <a:buNone/>
                      </a:pPr>
                      <a:r>
                        <a:rPr/>
                        <a:t>One person or two?</a:t>
                      </a:r>
                    </a:p>
                  </a:txBody>
                </a:tc>
                <a:tc>
                  <a:txBody>
                    <a:bodyPr/>
                    <a:lstStyle/>
                    <a:p>
                      <a:pPr lvl="0" indent="0" marL="0">
                        <a:buNone/>
                      </a:pPr>
                      <a:r>
                        <a:rPr/>
                        <a:t>Merge, keep apart, review</a:t>
                      </a:r>
                    </a:p>
                  </a:txBody>
                </a:tc>
              </a:tr>
              <a:tr h="0">
                <a:tc>
                  <a:txBody>
                    <a:bodyPr/>
                    <a:lstStyle/>
                    <a:p>
                      <a:pPr lvl="0" indent="0" marL="0">
                        <a:buNone/>
                      </a:pPr>
                      <a:r>
                        <a:rPr b="1"/>
                        <a:t>Ground</a:t>
                      </a:r>
                    </a:p>
                  </a:txBody>
                </a:tc>
                <a:tc>
                  <a:txBody>
                    <a:bodyPr/>
                    <a:lstStyle/>
                    <a:p>
                      <a:pPr lvl="0" indent="0" marL="0">
                        <a:buNone/>
                      </a:pPr>
                      <a:r>
                        <a:rPr/>
                        <a:t>Which place, which person?</a:t>
                      </a:r>
                    </a:p>
                  </a:txBody>
                </a:tc>
                <a:tc>
                  <a:txBody>
                    <a:bodyPr/>
                    <a:lstStyle/>
                    <a:p>
                      <a:pPr lvl="0" indent="0" marL="0">
                        <a:buNone/>
                      </a:pPr>
                      <a:r>
                        <a:rPr/>
                        <a:t>Supported, unresolved, wrong</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a:t>The model does everything around the decision, a hundred thousand times.</a:t>
            </a:r>
          </a:p>
          <a:p>
            <a:pPr lvl="0" indent="0" marL="0">
              <a:spcBef>
                <a:spcPts val="3000"/>
              </a:spcBef>
              <a:buNone/>
            </a:pPr>
            <a:r>
              <a:rPr b="1"/>
              <a:t>The second half of the method</a:t>
            </a:r>
          </a:p>
          <a:p>
            <a:pPr lvl="0" indent="0" marL="0">
              <a:buNone/>
            </a:pPr>
            <a:r>
              <a:rPr/>
              <a:t>Build. Extract. </a:t>
            </a:r>
            <a:r>
              <a:rPr b="1"/>
              <a:t>Visualise.</a:t>
            </a:r>
            <a:r>
              <a:rPr/>
              <a:t> </a:t>
            </a:r>
            <a:r>
              <a:rPr b="1"/>
              <a:t>See.</a:t>
            </a:r>
            <a:r>
              <a:rPr/>
              <a:t> Fix. Rerun.</a:t>
            </a:r>
          </a:p>
          <a:p>
            <a:pPr lvl="0" indent="0" marL="0">
              <a:buNone/>
            </a:pPr>
            <a:r>
              <a:rPr/>
              <a:t>The atlas was built to answer a question. It turned out to be the best error detector the project had.</a:t>
            </a:r>
          </a:p>
          <a:p>
            <a:pPr lvl="0" indent="0" marL="0">
              <a:spcBef>
                <a:spcPts val="3000"/>
              </a:spcBef>
              <a:buNone/>
            </a:pPr>
            <a:r>
              <a:rPr b="1"/>
              <a:t>The source</a:t>
            </a:r>
          </a:p>
          <a:p>
            <a:pPr lvl="0" indent="0" marL="1270000">
              <a:buNone/>
            </a:pPr>
            <a:r>
              <a:rPr sz="2000"/>
              <a:t>BALMER, F. E.—Dep. chief acctnt., G.P.O., E. Africa Prot., Mar., 1919; ch. acctnt., G.P.O., Kenya, Oct., 1919; ch. acctnt., Kenya-Uganda-Tanganyika post and tel. service, 1933; senr. dep. P.M.G., </a:t>
            </a:r>
            <a:r>
              <a:rPr sz="2000" b="1"/>
              <a:t>do.</a:t>
            </a:r>
            <a:r>
              <a:rPr sz="2000"/>
              <a:t>, 1935.</a:t>
            </a:r>
          </a:p>
          <a:p>
            <a:pPr lvl="0" indent="0" marL="0">
              <a:buNone/>
            </a:pPr>
            <a:r>
              <a:rPr/>
              <a:t>85 volumes, 1883 to 1966. 1,400 to 2,900 entries in each. The same man in forty of them.</a:t>
            </a:r>
          </a:p>
          <a:p>
            <a:pPr lvl="0" indent="0" marL="0">
              <a:spcBef>
                <a:spcPts val="3000"/>
              </a:spcBef>
              <a:buNone/>
            </a:pPr>
            <a:r>
              <a:rPr b="1"/>
              <a:t>Mark one up</a:t>
            </a:r>
          </a:p>
        </p:txBody>
      </p:sp>
      <p:pic>
        <p:nvPicPr>
          <p:cNvPr descr="annotate-screenshot.png" id="0" name="Picture 1"/>
          <p:cNvPicPr>
            <a:picLocks noGrp="1" noChangeAspect="1"/>
          </p:cNvPicPr>
          <p:nvPr/>
        </p:nvPicPr>
        <p:blipFill>
          <a:blip r:embed="rId3"/>
          <a:stretch>
            <a:fillRect/>
          </a:stretch>
        </p:blipFill>
        <p:spPr bwMode="auto">
          <a:xfrm>
            <a:off x="3568700" y="1371600"/>
            <a:ext cx="5105400" cy="2044700"/>
          </a:xfrm>
          <a:prstGeom prst="rect">
            <a:avLst/>
          </a:prstGeom>
          <a:noFill/>
          <a:ln w="9525">
            <a:noFill/>
            <a:headEnd/>
            <a:tailEnd/>
          </a:ln>
        </p:spPr>
      </p:pic>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jimclifford.ca/imperial-careers-workshop/annotate/</a:t>
            </a:r>
            <a:r>
              <a:rPr/>
              <a:t> or the paper. Three minutes.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Structure</a:t>
            </a:r>
          </a:p>
        </p:txBody>
      </p:sp>
      <p:sp>
        <p:nvSpPr>
          <p:cNvPr id="4" name="Text Placeholder 3"/>
          <p:cNvSpPr>
            <a:spLocks noGrp="1"/>
          </p:cNvSpPr>
          <p:nvPr>
            <p:ph idx="2" sz="half" type="body"/>
          </p:nvPr>
        </p:nvSpPr>
        <p:spPr/>
        <p:txBody>
          <a:bodyPr/>
          <a:lstStyle/>
          <a:p>
            <a:pPr lvl="0" indent="0" marL="0">
              <a:buNone/>
            </a:pPr>
            <a:r>
              <a:rPr/>
              <a:t>What is a record here?</a:t>
            </a:r>
          </a:p>
          <a:p>
            <a:pPr lvl="0" indent="0" marL="0">
              <a:spcBef>
                <a:spcPts val="3000"/>
              </a:spcBef>
              <a:buNone/>
            </a:pPr>
            <a:r>
              <a:rPr b="1"/>
              <a:t>Python, a cheap model, Python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0" bandRow="1">
                <a:tableStyleId>{5C22544A-7EE6-4342-B048-85BDC9FD1C3A}</a:tableStyleId>
              </a:tblPr>
              <a:tblGrid>
                <a:gridCol w="1701800"/>
                <a:gridCol w="1701800"/>
                <a:gridCol w="1701800"/>
              </a:tblGrid>
              <a:tr h="0">
                <a:tc>
                  <a:txBody>
                    <a:bodyPr/>
                    <a:lstStyle/>
                    <a:p>
                      <a:pPr lvl="0" indent="0" marL="0">
                        <a:buNone/>
                      </a:pPr>
                      <a:r>
                        <a:rPr b="1"/>
                        <a:t>1. Python</a:t>
                      </a:r>
                    </a:p>
                  </a:txBody>
                </a:tc>
                <a:tc>
                  <a:txBody>
                    <a:bodyPr/>
                    <a:lstStyle/>
                    <a:p>
                      <a:pPr lvl="0" indent="0" marL="0">
                        <a:buNone/>
                      </a:pPr>
                      <a:r>
                        <a:rPr/>
                        <a:t>a grammar for the entry shape</a:t>
                      </a:r>
                    </a:p>
                  </a:txBody>
                </a:tc>
                <a:tc>
                  <a:txBody>
                    <a:bodyPr/>
                    <a:lstStyle/>
                    <a:p>
                      <a:pPr lvl="0" indent="0" marL="0">
                        <a:buNone/>
                      </a:pPr>
                      <a:r>
                        <a:rPr/>
                        <a:t>refuses anything it cannot fully parse</a:t>
                      </a:r>
                    </a:p>
                  </a:txBody>
                </a:tc>
              </a:tr>
              <a:tr h="0">
                <a:tc>
                  <a:txBody>
                    <a:bodyPr/>
                    <a:lstStyle/>
                    <a:p>
                      <a:pPr lvl="0" indent="0" marL="0">
                        <a:buNone/>
                      </a:pPr>
                      <a:r>
                        <a:rPr b="1"/>
                        <a:t>2. Qwen3.6-35B</a:t>
                      </a:r>
                    </a:p>
                  </a:txBody>
                </a:tc>
                <a:tc>
                  <a:txBody>
                    <a:bodyPr/>
                    <a:lstStyle/>
                    <a:p>
                      <a:pPr lvl="0" indent="0" marL="0">
                        <a:buNone/>
                      </a:pPr>
                      <a:r>
                        <a:rPr/>
                        <a:t>one entry in, one JSON object out</a:t>
                      </a:r>
                    </a:p>
                  </a:txBody>
                </a:tc>
                <a:tc>
                  <a:txBody>
                    <a:bodyPr/>
                    <a:lstStyle/>
                    <a:p>
                      <a:pPr lvl="0" indent="0" marL="0">
                        <a:buNone/>
                      </a:pPr>
                      <a:r>
                        <a:rPr/>
                        <a:t>run-on, ditto and concurrent clauses</a:t>
                      </a:r>
                    </a:p>
                  </a:txBody>
                </a:tc>
              </a:tr>
              <a:tr h="0">
                <a:tc>
                  <a:txBody>
                    <a:bodyPr/>
                    <a:lstStyle/>
                    <a:p>
                      <a:pPr lvl="0" indent="0" marL="0">
                        <a:buNone/>
                      </a:pPr>
                      <a:r>
                        <a:rPr b="1"/>
                        <a:t>3. Python</a:t>
                      </a:r>
                    </a:p>
                  </a:txBody>
                </a:tc>
                <a:tc>
                  <a:txBody>
                    <a:bodyPr/>
                    <a:lstStyle/>
                    <a:p>
                      <a:pPr lvl="0" indent="0" marL="0">
                        <a:buNone/>
                      </a:pPr>
                      <a:r>
                        <a:rPr/>
                        <a:t>every place and year checked against the source</a:t>
                      </a:r>
                    </a:p>
                  </a:txBody>
                </a:tc>
                <a:tc>
                  <a:txBody>
                    <a:bodyPr/>
                    <a:lstStyle/>
                    <a:p>
                      <a:pPr lvl="0" indent="0" marL="0">
                        <a:buNone/>
                      </a:pPr>
                      <a:r>
                        <a:rPr/>
                        <a:t>systematic errors fixed by rule</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30,496</a:t>
            </a:r>
            <a:r>
              <a:rPr/>
              <a:t> entries · </a:t>
            </a:r>
            <a:r>
              <a:rPr b="1"/>
              <a:t>8.2</a:t>
            </a:r>
            <a:r>
              <a:rPr/>
              <a:t> hours · </a:t>
            </a:r>
            <a:r>
              <a:rPr b="1"/>
              <a:t>1</a:t>
            </a:r>
            <a:r>
              <a:rPr/>
              <a:t> a second · </a:t>
            </a:r>
            <a:r>
              <a:rPr b="1"/>
              <a:t>55</a:t>
            </a:r>
            <a:r>
              <a:rPr/>
              <a:t> failures</a:t>
            </a:r>
          </a:p>
          <a:p>
            <a:pPr lvl="0" indent="0" marL="0">
              <a:spcBef>
                <a:spcPts val="3000"/>
              </a:spcBef>
              <a:buNone/>
            </a:pPr>
            <a:r>
              <a:rPr b="1"/>
              <a:t>The prompt is the decisions</a:t>
            </a:r>
          </a:p>
          <a:p>
            <a:pPr lvl="0" indent="0" marL="1270000">
              <a:buNone/>
            </a:pPr>
            <a:r>
              <a:rPr sz="2000"/>
              <a:t>Extract ONLY what is printed; never invent or infer facts.</a:t>
            </a:r>
          </a:p>
          <a:p>
            <a:pPr lvl="0" indent="0" marL="1270000">
              <a:buNone/>
            </a:pPr>
            <a:r>
              <a:rPr sz="2000" b="1"/>
              <a:t>events:</a:t>
            </a:r>
            <a:r>
              <a:rPr sz="2000"/>
              <a:t> one object per distinct posting. EXPLODE compound clauses.</a:t>
            </a:r>
          </a:p>
          <a:p>
            <a:pPr lvl="0" indent="0" marL="1270000">
              <a:buNone/>
            </a:pPr>
            <a:r>
              <a:rPr sz="2000" b="1"/>
              <a:t>place:</a:t>
            </a:r>
            <a:r>
              <a:rPr sz="2000"/>
              <a:t> as printed. No place in the clause? Carry the previous one and say so.</a:t>
            </a:r>
          </a:p>
          <a:p>
            <a:pPr lvl="0" indent="0" marL="1270000">
              <a:buNone/>
            </a:pPr>
            <a:r>
              <a:rPr sz="2000" b="1"/>
              <a:t>birth_year:</a:t>
            </a:r>
            <a:r>
              <a:rPr sz="2000"/>
              <a:t> only if printed. NEVER infer from the earliest career date.</a:t>
            </a:r>
          </a:p>
          <a:p>
            <a:pPr lvl="0" indent="0" marL="0">
              <a:buNone/>
            </a:pPr>
            <a:r>
              <a:rPr/>
              <a:t>Every rule is there because a run broke it.</a:t>
            </a:r>
          </a:p>
          <a:p>
            <a:pPr lvl="0" indent="0" marL="0">
              <a:spcBef>
                <a:spcPts val="3000"/>
              </a:spcBef>
              <a:buNone/>
            </a:pPr>
            <a:r>
              <a:rPr b="1"/>
              <a:t>Every tenth record, read against the source</a:t>
            </a:r>
          </a:p>
          <a:p>
            <a:pPr lvl="0" indent="0" marL="0">
              <a:buNone/>
            </a:pPr>
            <a:r>
              <a:rPr b="1"/>
              <a:t>186</a:t>
            </a:r>
            <a:r>
              <a:rPr/>
              <a:t> sampled · </a:t>
            </a:r>
            <a:r>
              <a:rPr b="1"/>
              <a:t>69%</a:t>
            </a:r>
            <a:r>
              <a:rPr/>
              <a:t> clean · </a:t>
            </a:r>
            <a:r>
              <a:rPr b="1"/>
              <a:t>3%</a:t>
            </a:r>
            <a:r>
              <a:rPr/>
              <a:t> major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Source</a:t>
                      </a:r>
                    </a:p>
                  </a:txBody>
                  <a:tcPr/>
                </a:tc>
                <a:tc>
                  <a:txBody>
                    <a:bodyPr/>
                    <a:lstStyle/>
                    <a:p>
                      <a:pPr lvl="0" indent="0" marL="0">
                        <a:buNone/>
                      </a:pPr>
                      <a:r>
                        <a:rPr/>
                        <a:t>Record</a:t>
                      </a:r>
                    </a:p>
                  </a:txBody>
                  <a:tcPr/>
                </a:tc>
              </a:tr>
              <a:tr h="0">
                <a:tc>
                  <a:txBody>
                    <a:bodyPr/>
                    <a:lstStyle/>
                    <a:p>
                      <a:pPr lvl="0" indent="0" marL="0">
                        <a:buNone/>
                      </a:pPr>
                      <a:r>
                        <a:rPr/>
                        <a:t>“senr. dep. P.M.G., </a:t>
                      </a:r>
                      <a:r>
                        <a:rPr b="1"/>
                        <a:t>do.</a:t>
                      </a:r>
                      <a:r>
                        <a:rPr/>
                        <a:t>, 1935”</a:t>
                      </a:r>
                    </a:p>
                  </a:txBody>
                </a:tc>
                <a:tc>
                  <a:txBody>
                    <a:bodyPr/>
                    <a:lstStyle/>
                    <a:p>
                      <a:pPr lvl="0" indent="0" marL="0">
                        <a:buNone/>
                      </a:pPr>
                      <a:r>
                        <a:rPr/>
                        <a:t>place: “do.”</a:t>
                      </a:r>
                    </a:p>
                  </a:txBody>
                </a:tc>
              </a:tr>
              <a:tr h="0">
                <a:tc>
                  <a:txBody>
                    <a:bodyPr/>
                    <a:lstStyle/>
                    <a:p>
                      <a:pPr lvl="0" indent="0" marL="0">
                        <a:buNone/>
                      </a:pPr>
                      <a:r>
                        <a:rPr/>
                        <a:t>“BLAKELY … atty.-gen.’s off., B. Honduras, </a:t>
                      </a:r>
                      <a:r>
                        <a:rPr b="1"/>
                        <a:t>Apl., 1898</a:t>
                      </a:r>
                      <a:r>
                        <a:rPr/>
                        <a:t>.”</a:t>
                      </a:r>
                    </a:p>
                  </a:txBody>
                </a:tc>
                <a:tc>
                  <a:txBody>
                    <a:bodyPr/>
                    <a:lstStyle/>
                    <a:p>
                      <a:pPr lvl="0" indent="0" marL="0">
                        <a:buNone/>
                      </a:pPr>
                      <a:r>
                        <a:rPr/>
                        <a:t>birth_year: </a:t>
                      </a:r>
                      <a:r>
                        <a:rPr b="1"/>
                        <a:t>1898</a:t>
                      </a:r>
                    </a:p>
                  </a:txBody>
                </a:tc>
              </a:tr>
              <a:tr h="0">
                <a:tc>
                  <a:txBody>
                    <a:bodyPr/>
                    <a:lstStyle/>
                    <a:p>
                      <a:pPr lvl="0" indent="0" marL="0">
                        <a:buNone/>
                      </a:pPr>
                      <a:r>
                        <a:rPr/>
                        <a:t>“</a:t>
                      </a:r>
                      <a:r>
                        <a:rPr b="1"/>
                        <a:t>KT. BACH.</a:t>
                      </a:r>
                      <a:r>
                        <a:rPr/>
                        <a:t> (1920)”</a:t>
                      </a:r>
                    </a:p>
                  </a:txBody>
                </a:tc>
                <a:tc>
                  <a:txBody>
                    <a:bodyPr/>
                    <a:lstStyle/>
                    <a:p>
                      <a:pPr lvl="0" indent="0" marL="0">
                        <a:buNone/>
                      </a:pPr>
                      <a:r>
                        <a:rPr/>
                        <a:t>two honours: KT; BACH</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Not a bigger model</a:t>
            </a:r>
          </a:p>
          <a:p>
            <a:pPr lvl="0" indent="0" marL="0">
              <a:buNone/>
            </a:pPr>
            <a:r>
              <a:rPr/>
              <a:t>The errors are systematic, so the fixes are rules:</a:t>
            </a:r>
          </a:p>
          <a:p>
            <a:pPr lvl="0"/>
            <a:r>
              <a:rPr/>
              <a:t>merge </a:t>
            </a:r>
            <a:r>
              <a:rPr>
                <a:latin typeface="Courier"/>
              </a:rPr>
              <a:t>KT</a:t>
            </a:r>
            <a:r>
              <a:rPr/>
              <a:t> + </a:t>
            </a:r>
            <a:r>
              <a:rPr>
                <a:latin typeface="Courier"/>
              </a:rPr>
              <a:t>BACH</a:t>
            </a:r>
            <a:r>
              <a:rPr/>
              <a:t> into Knight Bachelor</a:t>
            </a:r>
          </a:p>
          <a:p>
            <a:pPr lvl="0"/>
            <a:r>
              <a:rPr/>
              <a:t>forward-fill a “do.” place, and say it was inherited</a:t>
            </a:r>
          </a:p>
          <a:p>
            <a:pPr lvl="0"/>
            <a:r>
              <a:rPr/>
              <a:t>“officer in chief” back to “officer in charge”</a:t>
            </a:r>
          </a:p>
          <a:p>
            <a:pPr lvl="0"/>
            <a:r>
              <a:rPr/>
              <a:t>stop pre-expanding “off.” at all</a:t>
            </a:r>
          </a:p>
          <a:p>
            <a:pPr lvl="0" indent="0" marL="0">
              <a:buNone/>
            </a:pPr>
            <a:r>
              <a:rPr/>
              <a:t>Every change logged on the record. Zero cost per entry.</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Clean</a:t>
            </a:r>
          </a:p>
        </p:txBody>
      </p:sp>
      <p:sp>
        <p:nvSpPr>
          <p:cNvPr id="3" name="Content Placeholder 2"/>
          <p:cNvSpPr>
            <a:spLocks noGrp="1"/>
          </p:cNvSpPr>
          <p:nvPr>
            <p:ph idx="1"/>
          </p:nvPr>
        </p:nvSpPr>
        <p:spPr/>
        <p:txBody>
          <a:bodyPr/>
          <a:lstStyle/>
          <a:p>
            <a:pPr lvl="0" indent="0" marL="0">
              <a:buNone/>
            </a:pPr>
            <a:r>
              <a:rPr/>
              <a:t>One person or two?</a:t>
            </a:r>
          </a:p>
          <a:p>
            <a:pPr lvl="0" indent="0" marL="0">
              <a:spcBef>
                <a:spcPts val="3000"/>
              </a:spcBef>
              <a:buNone/>
            </a:pPr>
            <a:r>
              <a:rPr b="1"/>
              <a:t>Forty editions, one person</a:t>
            </a:r>
          </a:p>
          <a:p>
            <a:pPr lvl="0" indent="0" marL="0">
              <a:buNone/>
            </a:pPr>
            <a:r>
              <a:rPr/>
              <a:t>A missed link is recoverable. A false merge is not. </a:t>
            </a:r>
            <a:r>
              <a:rPr b="1"/>
              <a:t>Ties resolve to no merge.</a:t>
            </a:r>
          </a:p>
          <a:p>
            <a:pPr lvl="0" indent="0" marL="0">
              <a:buNone/>
            </a:pPr>
            <a:r>
              <a:rPr/>
              <a:t>Deterministic passes first: zero false merges on 543 hand-checked careers. Then a model argues each leftover cluster from a dossier. 917 so far, each with its reason.</a:t>
            </a:r>
          </a:p>
          <a:p>
            <a:pPr lvl="0" indent="0" marL="0">
              <a:spcBef>
                <a:spcPts val="3000"/>
              </a:spcBef>
              <a:buNone/>
            </a:pPr>
            <a:r>
              <a:rPr b="1"/>
              <a:t>Two clusters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buNone/>
            </a:pPr>
            <a:r>
              <a:rPr b="1"/>
              <a:t>ABERY, Joseph</a:t>
            </a:r>
            <a:br/>
            <a:r>
              <a:rPr/>
              <a:t>M.B.C.M. · 1867 Ceylon, asst. colonial surgeon · one edition</a:t>
            </a:r>
          </a:p>
          <a:p>
            <a:pPr lvl="0" indent="0" marL="0">
              <a:buNone/>
            </a:pPr>
            <a:r>
              <a:rPr b="1"/>
              <a:t>CARBERY, Joseph</a:t>
            </a:r>
            <a:br/>
            <a:r>
              <a:rPr/>
              <a:t>M.B.C.M. · 1867 Ceylon, asst. colonial surgeon · six editions</a:t>
            </a:r>
          </a:p>
          <a:p>
            <a:pPr lvl="0" indent="0" marL="0">
              <a:buNone/>
            </a:pPr>
            <a:r>
              <a:rPr b="1"/>
              <a:t>Merge.</a:t>
            </a:r>
            <a:r>
              <a:rPr/>
              <a:t> An OCR garble with one identical event.</a:t>
            </a:r>
          </a:p>
        </p:txBody>
      </p:sp>
      <p:sp>
        <p:nvSpPr>
          <p:cNvPr id="4" name="Content Placeholder 3"/>
          <p:cNvSpPr>
            <a:spLocks noGrp="1"/>
          </p:cNvSpPr>
          <p:nvPr>
            <p:ph idx="2" sz="half"/>
          </p:nvPr>
        </p:nvSpPr>
        <p:spPr/>
        <p:txBody>
          <a:bodyPr/>
          <a:lstStyle/>
          <a:p>
            <a:pPr lvl="0" indent="0" marL="0">
              <a:buNone/>
            </a:pPr>
            <a:r>
              <a:rPr b="1"/>
              <a:t>A’BECKETT, Thomas, b. 1836</a:t>
            </a:r>
            <a:br/>
            <a:r>
              <a:rPr/>
              <a:t>Lincoln’s Inn · Victorian puisne judge · knighted 1909</a:t>
            </a:r>
          </a:p>
          <a:p>
            <a:pPr lvl="0" indent="0" marL="0">
              <a:buNone/>
            </a:pPr>
            <a:r>
              <a:rPr b="1"/>
              <a:t>BECKETT, Thomas Rumbold, b. 1898</a:t>
            </a:r>
            <a:br/>
            <a:r>
              <a:rPr/>
              <a:t>Judd School · Nigeria, telegraph engineer</a:t>
            </a:r>
          </a:p>
          <a:p>
            <a:pPr lvl="0" indent="0" marL="0">
              <a:buNone/>
            </a:pPr>
            <a:r>
              <a:rPr b="1"/>
              <a:t>Keep apart.</a:t>
            </a:r>
            <a:r>
              <a:rPr/>
              <a:t> Sixty-two years and nothing shared.</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Ground</a:t>
            </a:r>
          </a:p>
        </p:txBody>
      </p:sp>
      <p:sp>
        <p:nvSpPr>
          <p:cNvPr id="4" name="Text Placeholder 3"/>
          <p:cNvSpPr>
            <a:spLocks noGrp="1"/>
          </p:cNvSpPr>
          <p:nvPr>
            <p:ph idx="2" sz="half" type="body"/>
          </p:nvPr>
        </p:nvSpPr>
        <p:spPr/>
        <p:txBody>
          <a:bodyPr/>
          <a:lstStyle/>
          <a:p>
            <a:pPr lvl="0" indent="0" marL="0">
              <a:buNone/>
            </a:pPr>
            <a:r>
              <a:rPr/>
              <a:t>Which place, which person?</a:t>
            </a:r>
          </a:p>
          <a:p>
            <a:pPr lvl="0" indent="0" marL="0">
              <a:spcBef>
                <a:spcPts val="3000"/>
              </a:spcBef>
              <a:buNone/>
            </a:pPr>
            <a:r>
              <a:rPr b="1"/>
              <a:t>Why ground</a:t>
            </a:r>
          </a:p>
          <a:p>
            <a:pPr lvl="0" indent="0" marL="0">
              <a:buNone/>
            </a:pPr>
            <a:r>
              <a:rPr/>
              <a:t>Every arc needs coordinates for “the Central Provinces”, “British Guiana”, “Jodhpur”.</a:t>
            </a:r>
          </a:p>
          <a:p>
            <a:pPr lvl="0" indent="0" marL="0">
              <a:buNone/>
            </a:pPr>
            <a:r>
              <a:rPr/>
              <a:t>Wikidata has the item, or the capital that has the coordinates. One query.</a:t>
            </a:r>
          </a:p>
          <a:p>
            <a:pPr lvl="0" indent="0" marL="0">
              <a:buNone/>
            </a:pPr>
            <a:r>
              <a:rPr/>
              <a:t>And: a historian of the Cape and a historian of Bombay who both ground to </a:t>
            </a:r>
            <a:r>
              <a:rPr b="1"/>
              <a:t>Q1800510</a:t>
            </a:r>
            <a:r>
              <a:rPr/>
              <a:t> have joined their data without meeting.</a:t>
            </a:r>
          </a:p>
          <a:p>
            <a:pPr lvl="0" indent="0" marL="0">
              <a:spcBef>
                <a:spcPts val="3000"/>
              </a:spcBef>
              <a:buNone/>
            </a:pPr>
            <a:r>
              <a:rPr b="1"/>
              <a:t>Live: the lookup</a:t>
            </a:r>
          </a:p>
          <a:p>
            <a:pPr lvl="0" indent="-342900" marL="342900">
              <a:buAutoNum type="arabicPeriod"/>
            </a:pPr>
            <a:r>
              <a:rPr/>
              <a:t>“Henry Trimen botanist Ceylon Peradeniya” → read the statements → </a:t>
            </a:r>
            <a:r>
              <a:rPr b="1"/>
              <a:t>supported</a:t>
            </a:r>
          </a:p>
          <a:p>
            <a:pPr lvl="0" indent="-342900" marL="342900">
              <a:buAutoNum type="arabicPeriod"/>
            </a:pPr>
            <a:r>
              <a:rPr/>
              <a:t>“Ferdinando Hamlyn Price” → Q123279571, b. 1855, Tamil description only → </a:t>
            </a:r>
            <a:r>
              <a:rPr b="1"/>
              <a:t>supported</a:t>
            </a:r>
            <a:r>
              <a:rPr/>
              <a:t>, and the pipeline’s gate had rejected it</a:t>
            </a:r>
          </a:p>
          <a:p>
            <a:pPr lvl="0" indent="-342900" marL="342900">
              <a:buAutoNum type="arabicPeriod"/>
            </a:pPr>
            <a:r>
              <a:rPr/>
              <a:t>“Elwood D’Arcy Tibbits Antigua” → nothing → </a:t>
            </a:r>
            <a:r>
              <a:rPr b="1"/>
              <a:t>unresolved</a:t>
            </a:r>
            <a:r>
              <a:rPr/>
              <a:t>, record the search</a:t>
            </a:r>
          </a:p>
          <a:p>
            <a:pPr lvl="0" indent="0" marL="0">
              <a:spcBef>
                <a:spcPts val="3000"/>
              </a:spcBef>
              <a:buNone/>
            </a:pPr>
            <a:r>
              <a:rPr b="1"/>
              <a:t>Ask a chatbot instead</a:t>
            </a:r>
          </a:p>
          <a:p>
            <a:pPr lvl="0" indent="0" marL="0">
              <a:buNone/>
            </a:pPr>
            <a:r>
              <a:rPr b="1"/>
              <a:t>0</a:t>
            </a:r>
            <a:r>
              <a:rPr/>
              <a:t> of 16</a:t>
            </a:r>
          </a:p>
          <a:p>
            <a:pPr lvl="0" indent="0" marL="0">
              <a:buNone/>
            </a:pPr>
            <a:r>
              <a:rPr/>
              <a:t>Gemini 3.8 Flash, no tools, the same twenty entries.</a:t>
            </a:r>
          </a:p>
          <a:p>
            <a:pPr lvl="0" indent="0" marL="0">
              <a:buNone/>
            </a:pPr>
            <a:r>
              <a:rPr/>
              <a:t>Alfred Sharpe → a species of orchid. Richard Wilkinson → Thoth. Nyasaland → a disambiguation page. Joseph Chamberlain → a Swiss footballer.</a:t>
            </a:r>
          </a:p>
          <a:p>
            <a:pPr lvl="0" indent="0" marL="0">
              <a:buNone/>
            </a:pPr>
            <a:r>
              <a:rPr b="1"/>
              <a:t>It knew who. It did not know the number.</a:t>
            </a:r>
          </a:p>
          <a:p>
            <a:pPr lvl="0" indent="0" marL="0">
              <a:spcBef>
                <a:spcPts val="3000"/>
              </a:spcBef>
              <a:buNone/>
            </a:pPr>
            <a:r>
              <a:rPr b="1"/>
              <a:t>Four ways to get the number</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endParaRPr/>
                    </a:p>
                  </a:txBody>
                  <a:tcPr/>
                </a:tc>
                <a:tc>
                  <a:txBody>
                    <a:bodyPr/>
                    <a:lstStyle/>
                    <a:p>
                      <a:pPr lvl="0" indent="0" marL="0">
                        <a:buNone/>
                      </a:pPr>
                      <a:r>
                        <a:rPr/>
                        <a:t>No tools</a:t>
                      </a:r>
                    </a:p>
                  </a:txBody>
                  <a:tcPr/>
                </a:tc>
                <a:tc>
                  <a:txBody>
                    <a:bodyPr/>
                    <a:lstStyle/>
                    <a:p>
                      <a:pPr lvl="0" indent="0" marL="0">
                        <a:buNone/>
                      </a:pPr>
                      <a:r>
                        <a:rPr/>
                        <a:t>Pipeline</a:t>
                      </a:r>
                    </a:p>
                  </a:txBody>
                  <a:tcPr/>
                </a:tc>
                <a:tc>
                  <a:txBody>
                    <a:bodyPr/>
                    <a:lstStyle/>
                    <a:p>
                      <a:pPr lvl="0" indent="0" marL="0">
                        <a:buNone/>
                      </a:pPr>
                      <a:r>
                        <a:rPr/>
                        <a:t>Opus, retrieval</a:t>
                      </a:r>
                    </a:p>
                  </a:txBody>
                  <a:tcPr/>
                </a:tc>
                <a:tc>
                  <a:txBody>
                    <a:bodyPr/>
                    <a:lstStyle/>
                    <a:p>
                      <a:pPr lvl="0" indent="0" marL="0">
                        <a:buNone/>
                      </a:pPr>
                      <a:r>
                        <a:rPr/>
                        <a:t>Astra, retrieval</a:t>
                      </a:r>
                    </a:p>
                  </a:txBody>
                  <a:tcPr/>
                </a:tc>
              </a:tr>
              <a:tr h="0">
                <a:tc>
                  <a:txBody>
                    <a:bodyPr/>
                    <a:lstStyle/>
                    <a:p>
                      <a:pPr lvl="0" indent="0" marL="0">
                        <a:buNone/>
                      </a:pPr>
                      <a:r>
                        <a:rPr/>
                        <a:t>People right</a:t>
                      </a:r>
                    </a:p>
                  </a:txBody>
                </a:tc>
                <a:tc>
                  <a:txBody>
                    <a:bodyPr/>
                    <a:lstStyle/>
                    <a:p>
                      <a:pPr lvl="0" indent="0" marL="0">
                        <a:buNone/>
                      </a:pPr>
                      <a:r>
                        <a:rPr b="1"/>
                        <a:t>0</a:t>
                      </a:r>
                      <a:r>
                        <a:rPr/>
                        <a:t> of 16</a:t>
                      </a:r>
                    </a:p>
                  </a:txBody>
                </a:tc>
                <a:tc>
                  <a:txBody>
                    <a:bodyPr/>
                    <a:lstStyle/>
                    <a:p>
                      <a:pPr lvl="0" indent="0" marL="0">
                        <a:buNone/>
                      </a:pPr>
                      <a:r>
                        <a:rPr/>
                        <a:t>12 of 12 given</a:t>
                      </a:r>
                    </a:p>
                  </a:txBody>
                </a:tc>
                <a:tc>
                  <a:txBody>
                    <a:bodyPr/>
                    <a:lstStyle/>
                    <a:p>
                      <a:pPr lvl="0" indent="0" marL="0">
                        <a:buNone/>
                      </a:pPr>
                      <a:r>
                        <a:rPr b="1"/>
                        <a:t>16</a:t>
                      </a:r>
                      <a:r>
                        <a:rPr/>
                        <a:t> of 16</a:t>
                      </a:r>
                    </a:p>
                  </a:txBody>
                </a:tc>
                <a:tc>
                  <a:txBody>
                    <a:bodyPr/>
                    <a:lstStyle/>
                    <a:p>
                      <a:pPr lvl="0" indent="0" marL="0">
                        <a:buNone/>
                      </a:pPr>
                      <a:r>
                        <a:rPr b="1"/>
                        <a:t>16</a:t>
                      </a:r>
                      <a:r>
                        <a:rPr/>
                        <a:t> of 16</a:t>
                      </a:r>
                    </a:p>
                  </a:txBody>
                </a:tc>
              </a:tr>
              <a:tr h="0">
                <a:tc>
                  <a:txBody>
                    <a:bodyPr/>
                    <a:lstStyle/>
                    <a:p>
                      <a:pPr lvl="0" indent="0" marL="0">
                        <a:buNone/>
                      </a:pPr>
                      <a:r>
                        <a:rPr/>
                        <a:t>Places</a:t>
                      </a:r>
                    </a:p>
                  </a:txBody>
                </a:tc>
                <a:tc>
                  <a:txBody>
                    <a:bodyPr/>
                    <a:lstStyle/>
                    <a:p>
                      <a:pPr lvl="0" indent="0" marL="0">
                        <a:buNone/>
                      </a:pPr>
                      <a:r>
                        <a:rPr/>
                        <a:t>38 of 104, modern</a:t>
                      </a:r>
                    </a:p>
                  </a:txBody>
                </a:tc>
                <a:tc>
                  <a:txBody>
                    <a:bodyPr/>
                    <a:lstStyle/>
                    <a:p>
                      <a:pPr lvl="0" indent="0" marL="0">
                        <a:buNone/>
                      </a:pPr>
                      <a:r>
                        <a:rPr/>
                        <a:t>3,207 surfaces</a:t>
                      </a:r>
                    </a:p>
                  </a:txBody>
                </a:tc>
                <a:tc>
                  <a:txBody>
                    <a:bodyPr/>
                    <a:lstStyle/>
                    <a:p>
                      <a:pPr lvl="0" indent="0" marL="0">
                        <a:buNone/>
                      </a:pPr>
                      <a:r>
                        <a:rPr/>
                        <a:t>17 of 138, stopped</a:t>
                      </a:r>
                    </a:p>
                  </a:txBody>
                </a:tc>
                <a:tc>
                  <a:txBody>
                    <a:bodyPr/>
                    <a:lstStyle/>
                    <a:p>
                      <a:pPr lvl="0" indent="0" marL="0">
                        <a:buNone/>
                      </a:pPr>
                      <a:r>
                        <a:rPr/>
                        <a:t>104, period entities</a:t>
                      </a:r>
                    </a:p>
                  </a:txBody>
                </a:tc>
              </a:tr>
              <a:tr h="0">
                <a:tc>
                  <a:txBody>
                    <a:bodyPr/>
                    <a:lstStyle/>
                    <a:p>
                      <a:pPr lvl="0" indent="0" marL="0">
                        <a:buNone/>
                      </a:pPr>
                      <a:r>
                        <a:rPr/>
                        <a:t>Time</a:t>
                      </a:r>
                    </a:p>
                  </a:txBody>
                </a:tc>
                <a:tc>
                  <a:txBody>
                    <a:bodyPr/>
                    <a:lstStyle/>
                    <a:p>
                      <a:pPr lvl="0" indent="0" marL="0">
                        <a:buNone/>
                      </a:pPr>
                      <a:r>
                        <a:rPr/>
                        <a:t>5 min</a:t>
                      </a:r>
                    </a:p>
                  </a:txBody>
                </a:tc>
                <a:tc>
                  <a:txBody>
                    <a:bodyPr/>
                    <a:lstStyle/>
                    <a:p>
                      <a:pPr lvl="0" indent="0" marL="0">
                        <a:buNone/>
                      </a:pPr>
                      <a:r>
                        <a:rPr/>
                        <a:t>overnight, corpus</a:t>
                      </a:r>
                    </a:p>
                  </a:txBody>
                </a:tc>
                <a:tc>
                  <a:txBody>
                    <a:bodyPr/>
                    <a:lstStyle/>
                    <a:p>
                      <a:pPr lvl="0" indent="0" marL="0">
                        <a:buNone/>
                      </a:pPr>
                      <a:r>
                        <a:rPr/>
                        <a:t>20 min</a:t>
                      </a:r>
                    </a:p>
                  </a:txBody>
                </a:tc>
                <a:tc>
                  <a:txBody>
                    <a:bodyPr/>
                    <a:lstStyle/>
                    <a:p>
                      <a:pPr lvl="0" indent="0" marL="0">
                        <a:buNone/>
                      </a:pPr>
                      <a:r>
                        <a:rPr/>
                        <a:t>27 min</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27 minutes for 20 entries is 25 days for one List. The retrieval columns are the review queue, not the corpus.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The map finds the errors</a:t>
            </a:r>
          </a:p>
        </p:txBody>
      </p:sp>
      <p:sp>
        <p:nvSpPr>
          <p:cNvPr id="4" name="Text Placeholder 3"/>
          <p:cNvSpPr>
            <a:spLocks noGrp="1"/>
          </p:cNvSpPr>
          <p:nvPr>
            <p:ph idx="2" sz="half" type="body"/>
          </p:nvPr>
        </p:nvSpPr>
        <p:spPr/>
        <p:txBody>
          <a:bodyPr/>
          <a:lstStyle/>
          <a:p>
            <a:pPr lvl="0" indent="0" marL="0">
              <a:spcBef>
                <a:spcPts val="3000"/>
              </a:spcBef>
              <a:buNone/>
            </a:pPr>
            <a:r>
              <a:rPr b="1"/>
              <a:t>Three errors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Seen on the map</a:t>
                      </a:r>
                    </a:p>
                  </a:txBody>
                  <a:tcPr/>
                </a:tc>
                <a:tc>
                  <a:txBody>
                    <a:bodyPr/>
                    <a:lstStyle/>
                    <a:p>
                      <a:pPr lvl="0" indent="0" marL="0">
                        <a:buNone/>
                      </a:pPr>
                      <a:r>
                        <a:rPr/>
                        <a:t>Cause</a:t>
                      </a:r>
                    </a:p>
                  </a:txBody>
                  <a:tcPr/>
                </a:tc>
                <a:tc>
                  <a:txBody>
                    <a:bodyPr/>
                    <a:lstStyle/>
                    <a:p>
                      <a:pPr lvl="0" indent="0" marL="0">
                        <a:buNone/>
                      </a:pPr>
                      <a:r>
                        <a:rPr/>
                        <a:t>Fix</a:t>
                      </a:r>
                    </a:p>
                  </a:txBody>
                  <a:tcPr/>
                </a:tc>
              </a:tr>
              <a:tr h="0">
                <a:tc>
                  <a:txBody>
                    <a:bodyPr/>
                    <a:lstStyle/>
                    <a:p>
                      <a:pPr lvl="0" indent="0" marL="0">
                        <a:buNone/>
                      </a:pPr>
                      <a:r>
                        <a:rPr/>
                        <a:t>A premier of British Columbia with a seat in Melbourne</a:t>
                      </a:r>
                    </a:p>
                  </a:txBody>
                </a:tc>
                <a:tc>
                  <a:txBody>
                    <a:bodyPr/>
                    <a:lstStyle/>
                    <a:p>
                      <a:pPr lvl="0" indent="0" marL="0">
                        <a:buNone/>
                      </a:pPr>
                      <a:r>
                        <a:rPr/>
                        <a:t>“Victoria” grounded once, by string</a:t>
                      </a:r>
                    </a:p>
                  </a:txBody>
                </a:tc>
                <a:tc>
                  <a:txBody>
                    <a:bodyPr/>
                    <a:lstStyle/>
                    <a:p>
                      <a:pPr lvl="0" indent="0" marL="0">
                        <a:buNone/>
                      </a:pPr>
                      <a:r>
                        <a:rPr/>
                        <a:t>Resolve per person</a:t>
                      </a:r>
                    </a:p>
                  </a:txBody>
                </a:tc>
              </a:tr>
              <a:tr h="0">
                <a:tc>
                  <a:txBody>
                    <a:bodyPr/>
                    <a:lstStyle/>
                    <a:p>
                      <a:pPr lvl="0" indent="0" marL="0">
                        <a:buNone/>
                      </a:pPr>
                      <a:r>
                        <a:rPr/>
                        <a:t>The Union of South Africa at Harare: 960 events</a:t>
                      </a:r>
                    </a:p>
                  </a:txBody>
                </a:tc>
                <a:tc>
                  <a:txBody>
                    <a:bodyPr/>
                    <a:lstStyle/>
                    <a:p>
                      <a:pPr lvl="0" indent="0" marL="0">
                        <a:buNone/>
                      </a:pPr>
                      <a:r>
                        <a:rPr/>
                        <a:t>“South Africa” matched inside “British South Africa Company”</a:t>
                      </a:r>
                    </a:p>
                  </a:txBody>
                </a:tc>
                <a:tc>
                  <a:txBody>
                    <a:bodyPr/>
                    <a:lstStyle/>
                    <a:p>
                      <a:pPr lvl="0" indent="0" marL="0">
                        <a:buNone/>
                      </a:pPr>
                      <a:r>
                        <a:rPr/>
                        <a:t>Five cache rows; a guard on the join</a:t>
                      </a:r>
                    </a:p>
                  </a:txBody>
                </a:tc>
              </a:tr>
              <a:tr h="0">
                <a:tc>
                  <a:txBody>
                    <a:bodyPr/>
                    <a:lstStyle/>
                    <a:p>
                      <a:pPr lvl="0" indent="0" marL="0">
                        <a:buNone/>
                      </a:pPr>
                      <a:r>
                        <a:rPr/>
                        <a:t>Two Baluchistans</a:t>
                      </a:r>
                    </a:p>
                  </a:txBody>
                </a:tc>
                <a:tc>
                  <a:txBody>
                    <a:bodyPr/>
                    <a:lstStyle/>
                    <a:p>
                      <a:pPr lvl="0" indent="0" marL="0">
                        <a:buNone/>
                      </a:pPr>
                      <a:r>
                        <a:rPr/>
                        <a:t>One under Q843, Pakistan</a:t>
                      </a:r>
                    </a:p>
                  </a:txBody>
                </a:tc>
                <a:tc>
                  <a:txBody>
                    <a:bodyPr/>
                    <a:lstStyle/>
                    <a:p>
                      <a:pPr lvl="0" indent="0" marL="0">
                        <a:buNone/>
                      </a:pPr>
                      <a:r>
                        <a:rPr/>
                        <a:t>One canonical row</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Fix the </a:t>
            </a:r>
            <a:r>
              <a:rPr b="1"/>
              <a:t>rule</a:t>
            </a:r>
            <a:r>
              <a:rPr/>
              <a:t>, re-emit </a:t>
            </a:r>
            <a:r>
              <a:rPr b="1"/>
              <a:t>both corpora</a:t>
            </a:r>
            <a:r>
              <a:rPr/>
              <a:t>, look at </a:t>
            </a:r>
            <a:r>
              <a:rPr b="1"/>
              <a:t>everyone the rule touched</a:t>
            </a:r>
            <a:r>
              <a:rPr/>
              <a:t>.</a:t>
            </a:r>
          </a:p>
          <a:p>
            <a:pPr lvl="0" indent="0" marL="0">
              <a:spcBef>
                <a:spcPts val="3000"/>
              </a:spcBef>
              <a:buNone/>
            </a:pPr>
            <a:r>
              <a:rPr b="1"/>
              <a:t>What the map cannot find</a:t>
            </a:r>
          </a:p>
          <a:p>
            <a:pPr lvl="0" indent="0" marL="0">
              <a:buNone/>
            </a:pPr>
            <a:r>
              <a:rPr b="1"/>
              <a:t>76%</a:t>
            </a:r>
          </a:p>
          <a:p>
            <a:pPr lvl="0" indent="0" marL="0">
              <a:buNone/>
            </a:pPr>
            <a:r>
              <a:rPr/>
              <a:t>of the judge’s “different” verdicts were wrong in the rare-surname, overlapping-era stratum.</a:t>
            </a:r>
          </a:p>
          <a:p>
            <a:pPr lvl="0" indent="0" marL="0">
              <a:buNone/>
            </a:pPr>
            <a:r>
              <a:rPr/>
              <a:t>No map shows a missed merge. For that: 200 hand-labelled cases, risky strata oversampled.</a:t>
            </a:r>
          </a:p>
          <a:p>
            <a:pPr lvl="0" indent="0" marL="0">
              <a:spcBef>
                <a:spcPts val="3000"/>
              </a:spcBef>
              <a:buNone/>
            </a:pPr>
            <a:r>
              <a:rPr b="1"/>
              <a:t>Exercise</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review-screenshot.png" id="0" name="Picture 1"/>
          <p:cNvPicPr>
            <a:picLocks noGrp="1" noChangeAspect="1"/>
          </p:cNvPicPr>
          <p:nvPr/>
        </p:nvPicPr>
        <p:blipFill>
          <a:blip r:embed="rId2"/>
          <a:stretch>
            <a:fillRect/>
          </a:stretch>
        </p:blipFill>
        <p:spPr bwMode="auto">
          <a:xfrm>
            <a:off x="457200" y="1968500"/>
            <a:ext cx="4038600" cy="1841500"/>
          </a:xfrm>
          <a:prstGeom prst="rect">
            <a:avLst/>
          </a:prstGeom>
          <a:noFill/>
          <a:ln w="9525">
            <a:noFill/>
            <a:headEnd/>
            <a:tailEnd/>
          </a:ln>
        </p:spPr>
      </p:pic>
      <p:sp>
        <p:nvSpPr>
          <p:cNvPr id="4" name="Content Placeholder 3"/>
          <p:cNvSpPr>
            <a:spLocks noGrp="1"/>
          </p:cNvSpPr>
          <p:nvPr>
            <p:ph idx="2" sz="half"/>
          </p:nvPr>
        </p:nvSpPr>
        <p:spPr/>
        <p:txBody>
          <a:bodyPr/>
          <a:lstStyle/>
          <a:p>
            <a:pPr lvl="0" indent="0" marL="0">
              <a:buNone/>
            </a:pPr>
            <a:r>
              <a:rPr b="1"/>
              <a:t>jimclifford.ca/imperial-careers-workshop/review/</a:t>
            </a:r>
          </a:p>
          <a:p>
            <a:pPr lvl="0" indent="0" marL="0">
              <a:buNone/>
            </a:pPr>
            <a:r>
              <a:rPr b="1"/>
              <a:t>Structure</a:t>
            </a:r>
            <a:r>
              <a:rPr/>
              <a:t> Blakely, Balmer</a:t>
            </a:r>
            <a:br/>
            <a:r>
              <a:rPr b="1"/>
              <a:t>Clean</a:t>
            </a:r>
            <a:r>
              <a:rPr/>
              <a:t> Abery, A’Beckett</a:t>
            </a:r>
            <a:br/>
            <a:r>
              <a:rPr b="1"/>
              <a:t>Ground</a:t>
            </a:r>
            <a:r>
              <a:rPr/>
              <a:t> South Africa, Brewster</a:t>
            </a:r>
            <a:br/>
            <a:r>
              <a:rPr b="1"/>
              <a:t>Extra</a:t>
            </a:r>
            <a:r>
              <a:rPr/>
              <a:t> Price</a:t>
            </a:r>
          </a:p>
          <a:p>
            <a:pPr lvl="0" indent="0" marL="0">
              <a:buNone/>
            </a:pPr>
            <a:r>
              <a:rPr/>
              <a:t>Write the reason.</a:t>
            </a:r>
            <a:br/>
            <a:r>
              <a:rPr/>
              <a:t>Zoom: </a:t>
            </a:r>
            <a:r>
              <a:rPr b="1"/>
              <a:t>Copy summary for chat</a:t>
            </a:r>
            <a:r>
              <a:rPr/>
              <a: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Your own data</a:t>
            </a:r>
          </a:p>
          <a:p>
            <a:pPr lvl="0"/>
            <a:r>
              <a:rPr/>
              <a:t>One question, one small sample, the page reachable</a:t>
            </a:r>
          </a:p>
          <a:p>
            <a:pPr lvl="0"/>
            <a:r>
              <a:rPr/>
              <a:t>Build the view early. It is your error detector</a:t>
            </a:r>
          </a:p>
          <a:p>
            <a:pPr lvl="0"/>
            <a:r>
              <a:rPr/>
              <a:t>Local identifiers first. None from memory</a:t>
            </a:r>
          </a:p>
          <a:p>
            <a:pPr lvl="0"/>
            <a:r>
              <a:rPr/>
              <a:t>Ground to the historical entity, per person</a:t>
            </a:r>
          </a:p>
          <a:p>
            <a:pPr lvl="0"/>
            <a:r>
              <a:rPr/>
              <a:t>Ties resolve to no merge</a:t>
            </a:r>
          </a:p>
          <a:p>
            <a:pPr lvl="0"/>
            <a:r>
              <a:rPr/>
              <a:t>Fix the rule, not the record. Make the correction a test</a:t>
            </a:r>
          </a:p>
          <a:p>
            <a:pPr lvl="0"/>
            <a:r>
              <a:rPr/>
              <a:t>A frontier model writes the pipeline; a cheap one reads the collection</a:t>
            </a:r>
          </a:p>
          <a:p>
            <a:pPr lvl="0" indent="0" marL="0">
              <a:spcBef>
                <a:spcPts val="3000"/>
              </a:spcBef>
              <a:buNone/>
            </a:pPr>
            <a:r>
              <a:rPr b="1"/>
              <a:t>Three questions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endParaRPr/>
                    </a:p>
                  </a:txBody>
                  <a:tcPr/>
                </a:tc>
                <a:tc>
                  <a:txBody>
                    <a:bodyPr/>
                    <a:lstStyle/>
                    <a:p>
                      <a:endParaRPr/>
                    </a:p>
                  </a:txBody>
                  <a:tcPr/>
                </a:tc>
                <a:tc>
                  <a:txBody>
                    <a:bodyPr/>
                    <a:lstStyle/>
                    <a:p>
                      <a:pPr lvl="0" indent="0" marL="0">
                        <a:buNone/>
                      </a:pPr>
                      <a:r>
                        <a:rPr/>
                        <a:t>You decide</a:t>
                      </a:r>
                    </a:p>
                  </a:txBody>
                  <a:tcPr/>
                </a:tc>
              </a:tr>
              <a:tr h="0">
                <a:tc>
                  <a:txBody>
                    <a:bodyPr/>
                    <a:lstStyle/>
                    <a:p>
                      <a:pPr lvl="0" indent="0" marL="0">
                        <a:buNone/>
                      </a:pPr>
                      <a:r>
                        <a:rPr b="1"/>
                        <a:t>Structure</a:t>
                      </a:r>
                    </a:p>
                  </a:txBody>
                </a:tc>
                <a:tc>
                  <a:txBody>
                    <a:bodyPr/>
                    <a:lstStyle/>
                    <a:p>
                      <a:pPr lvl="0" indent="0" marL="0">
                        <a:buNone/>
                      </a:pPr>
                      <a:r>
                        <a:rPr/>
                        <a:t>What is a record here?</a:t>
                      </a:r>
                    </a:p>
                  </a:txBody>
                </a:tc>
                <a:tc>
                  <a:txBody>
                    <a:bodyPr/>
                    <a:lstStyle/>
                    <a:p>
                      <a:pPr lvl="0" indent="0" marL="0">
                        <a:buNone/>
                      </a:pPr>
                      <a:r>
                        <a:rPr/>
                        <a:t>What counts as an event</a:t>
                      </a:r>
                    </a:p>
                  </a:txBody>
                </a:tc>
              </a:tr>
              <a:tr h="0">
                <a:tc>
                  <a:txBody>
                    <a:bodyPr/>
                    <a:lstStyle/>
                    <a:p>
                      <a:pPr lvl="0" indent="0" marL="0">
                        <a:buNone/>
                      </a:pPr>
                      <a:r>
                        <a:rPr b="1"/>
                        <a:t>Clean</a:t>
                      </a:r>
                    </a:p>
                  </a:txBody>
                </a:tc>
                <a:tc>
                  <a:txBody>
                    <a:bodyPr/>
                    <a:lstStyle/>
                    <a:p>
                      <a:pPr lvl="0" indent="0" marL="0">
                        <a:buNone/>
                      </a:pPr>
                      <a:r>
                        <a:rPr/>
                        <a:t>One person or two?</a:t>
                      </a:r>
                    </a:p>
                  </a:txBody>
                </a:tc>
                <a:tc>
                  <a:txBody>
                    <a:bodyPr/>
                    <a:lstStyle/>
                    <a:p>
                      <a:pPr lvl="0" indent="0" marL="0">
                        <a:buNone/>
                      </a:pPr>
                      <a:r>
                        <a:rPr/>
                        <a:t>Merge, keep apart, review</a:t>
                      </a:r>
                    </a:p>
                  </a:txBody>
                </a:tc>
              </a:tr>
              <a:tr h="0">
                <a:tc>
                  <a:txBody>
                    <a:bodyPr/>
                    <a:lstStyle/>
                    <a:p>
                      <a:pPr lvl="0" indent="0" marL="0">
                        <a:buNone/>
                      </a:pPr>
                      <a:r>
                        <a:rPr b="1"/>
                        <a:t>Ground</a:t>
                      </a:r>
                    </a:p>
                  </a:txBody>
                </a:tc>
                <a:tc>
                  <a:txBody>
                    <a:bodyPr/>
                    <a:lstStyle/>
                    <a:p>
                      <a:pPr lvl="0" indent="0" marL="0">
                        <a:buNone/>
                      </a:pPr>
                      <a:r>
                        <a:rPr/>
                        <a:t>Which place, which person?</a:t>
                      </a:r>
                    </a:p>
                  </a:txBody>
                </a:tc>
                <a:tc>
                  <a:txBody>
                    <a:bodyPr/>
                    <a:lstStyle/>
                    <a:p>
                      <a:pPr lvl="0" indent="0" marL="0">
                        <a:buNone/>
                      </a:pPr>
                      <a:r>
                        <a:rPr/>
                        <a:t>Supported, unresolved, wrong</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jimclifford.ca/imperial-careers-workshop</a:t>
            </a:r>
            <a:r>
              <a:rPr/>
              <a:t> · data </a:t>
            </a:r>
            <a:r>
              <a:rPr b="1"/>
              <a:t>jimclifford.ca/col_matching</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Cleaning, Structuring and Grounding Historical Data</dc:title>
  <dc:creator>Jim Clifford, University of Saskatchewan</dc:creator>
  <cp:keywords/>
  <dcterms:created xsi:type="dcterms:W3CDTF">2026-10-07T15:41:25Z</dcterms:created>
  <dcterms:modified xsi:type="dcterms:W3CDTF">2026-10-07T15:41:25Z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2026-10-15</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subtitle">
    <vt:lpwstr>One dataset, start to finish, with a coding agent</vt:lpwstr>
  </property>
  <property fmtid="{D5CDD505-2E9C-101B-9397-08002B2CF9AE}" pid="11" name="toc-title">
    <vt:lpwstr>Table of contents</vt:lpwstr>
  </property>
</Properties>
</file>